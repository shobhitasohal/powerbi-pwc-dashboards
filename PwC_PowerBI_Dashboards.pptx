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72" y="1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55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734A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2E4A8E">
              <a:alpha val="3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4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PwC Power BI Internship Program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interactive dashboards analyzing Call Centre Operations,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Churn, and Workforce Diversity &amp; Inclusion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Shobhita Sohal  |  Data &amp; BI Analyst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4133088"/>
            <a:ext cx="1920240" cy="256032"/>
          </a:xfrm>
          <a:prstGeom prst="roundRect">
            <a:avLst>
              <a:gd name="adj" fmla="val 17857"/>
            </a:avLst>
          </a:prstGeom>
          <a:solidFill>
            <a:srgbClr val="E8734A">
              <a:alpha val="4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Text 7"/>
          <p:cNvSpPr/>
          <p:nvPr/>
        </p:nvSpPr>
        <p:spPr>
          <a:xfrm>
            <a:off x="548640" y="41330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Centre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4133088"/>
            <a:ext cx="1920240" cy="256032"/>
          </a:xfrm>
          <a:prstGeom prst="roundRect">
            <a:avLst>
              <a:gd name="adj" fmla="val 17857"/>
            </a:avLst>
          </a:prstGeom>
          <a:solidFill>
            <a:srgbClr val="E8734A">
              <a:alpha val="4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2606040" y="41330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983480" y="4133088"/>
            <a:ext cx="1920240" cy="256032"/>
          </a:xfrm>
          <a:prstGeom prst="roundRect">
            <a:avLst>
              <a:gd name="adj" fmla="val 17857"/>
            </a:avLst>
          </a:prstGeom>
          <a:solidFill>
            <a:srgbClr val="E8734A">
              <a:alpha val="4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3" name="Text 11"/>
          <p:cNvSpPr/>
          <p:nvPr/>
        </p:nvSpPr>
        <p:spPr>
          <a:xfrm>
            <a:off x="4983480" y="41330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 &amp; Inclusion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Inside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Power BI dashboards  |  One internship program  |  Real business impact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80467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640080" cy="822960"/>
          </a:xfrm>
          <a:prstGeom prst="roundRect">
            <a:avLst>
              <a:gd name="adj" fmla="val 11429"/>
            </a:avLst>
          </a:prstGeom>
          <a:solidFill>
            <a:srgbClr val="E8734A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143560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Centre Performance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17830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calls analyzed across agents, topics &amp; time periods to uncover service gaps and staffing opportunities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80467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>
            <a:off x="640080" y="2560320"/>
            <a:ext cx="640080" cy="822960"/>
          </a:xfrm>
          <a:prstGeom prst="roundRect">
            <a:avLst>
              <a:gd name="adj" fmla="val 11429"/>
            </a:avLst>
          </a:prstGeom>
          <a:solidFill>
            <a:srgbClr val="2E6BE6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640080" y="25603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17320" y="257860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 Analysis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29260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$1.7M revenue at risk — segmenting 7,000+ customers to identify who is churning, why, and how to retain them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80467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640080" cy="822960"/>
          </a:xfrm>
          <a:prstGeom prst="roundRect">
            <a:avLst>
              <a:gd name="adj" fmla="val 1142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640080" y="37033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17320" y="372160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 &amp; Inclusion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17320" y="40690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equity analysis across hiring, promotions, turnover &amp; performance — by gender, level, and department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734A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2E4A8E">
              <a:alpha val="3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 Centre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service gaps, staffing bottlenecks, and agent performance across 5,000 customer calls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7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5,000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3931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7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9184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Rate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035040" y="3931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7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03504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Rate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Preview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Centre Performance Dashboard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813816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/>
          <a:effectLst>
            <a:outerShdw blurRad="152400" dist="3810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" y="1078992"/>
            <a:ext cx="79552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Centre Performance Dashboard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80467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75895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telecom call centre managing 5,000 monthly customer interactions had no centralized view of agent performance, call resolution rates, or demand patterns — making it impossible to optimize staffing, identify service gaps, or improve customer satisfaction, which was tracking 25% below the target of 4.50.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2606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3291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Gap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3.37 actual vs 4.50 target — 25% below goal with no diagnostic 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55848" y="2697480"/>
            <a:ext cx="2606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3355848" y="2788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465576" y="3291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Agent Visibility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47288" y="36576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compare agent performance or identify coaching needs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63056" y="2697480"/>
            <a:ext cx="2606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5" name="Text 13"/>
          <p:cNvSpPr/>
          <p:nvPr/>
        </p:nvSpPr>
        <p:spPr>
          <a:xfrm>
            <a:off x="6163056" y="2788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272784" y="3291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Demand Patterns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36576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Staffing decisions made without insight into call volume peaks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Centre Performance Dashboard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658368" y="1399032"/>
            <a:ext cx="402336" cy="402336"/>
          </a:xfrm>
          <a:prstGeom prst="ellipse">
            <a:avLst/>
          </a:prstGeom>
          <a:solidFill>
            <a:srgbClr val="E8734A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658368" y="1399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132588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Connection &amp; Modelling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88720" y="16184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raw call centre data and built relationships between agent, call, and time dimension tables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>
            <a:off x="658368" y="2313432"/>
            <a:ext cx="402336" cy="402336"/>
          </a:xfrm>
          <a:prstGeom prst="ellipse">
            <a:avLst/>
          </a:prstGeom>
          <a:solidFill>
            <a:srgbClr val="E8734A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658368" y="2313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24028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Measures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88720" y="25328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KPIs: Avg Answering Speed, Calls Answered Rate, Resolution Rate, Overall Satisfaction Score, Abandoned Rate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658368" y="3227832"/>
            <a:ext cx="402336" cy="402336"/>
          </a:xfrm>
          <a:prstGeom prst="ellipse">
            <a:avLst/>
          </a:prstGeom>
          <a:solidFill>
            <a:srgbClr val="E8734A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658368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315468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34472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KPI cards, day/time bar charts, and call volume by topic — with Topic, Quarter, and Month slicers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0" name="Shape 18"/>
          <p:cNvSpPr/>
          <p:nvPr/>
        </p:nvSpPr>
        <p:spPr>
          <a:xfrm>
            <a:off x="658368" y="4142232"/>
            <a:ext cx="402336" cy="402336"/>
          </a:xfrm>
          <a:prstGeom prst="ellipse">
            <a:avLst/>
          </a:prstGeom>
          <a:solidFill>
            <a:srgbClr val="E8734A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1" name="Text 19"/>
          <p:cNvSpPr/>
          <p:nvPr/>
        </p:nvSpPr>
        <p:spPr>
          <a:xfrm>
            <a:off x="658368" y="4142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406908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Performance Quadrant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88720" y="43616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Top 5 agents across calls answered, resolved calls, speed to answer, and satisfaction rating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Outcome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Centre Performance Dashboard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606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87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3.37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4.50 target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9933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Score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55848" y="1188720"/>
            <a:ext cx="2606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9" name="Text 7"/>
          <p:cNvSpPr/>
          <p:nvPr/>
        </p:nvSpPr>
        <p:spPr>
          <a:xfrm>
            <a:off x="3447288" y="12801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87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47288" y="1783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in February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47288" y="19933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Abandoned Call Rate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63056" y="1188720"/>
            <a:ext cx="2606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3" name="Text 11"/>
          <p:cNvSpPr/>
          <p:nvPr/>
        </p:nvSpPr>
        <p:spPr>
          <a:xfrm>
            <a:off x="6254496" y="12801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87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12PM–5PM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254496" y="1783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2,700 calls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54496" y="19933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Demand Period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514600"/>
            <a:ext cx="804672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7" name="Text 15"/>
          <p:cNvSpPr/>
          <p:nvPr/>
        </p:nvSpPr>
        <p:spPr>
          <a:xfrm>
            <a:off x="777240" y="263347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Recommendations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3072384"/>
            <a:ext cx="182880" cy="182880"/>
          </a:xfrm>
          <a:prstGeom prst="ellipse">
            <a:avLst/>
          </a:prstGeom>
          <a:solidFill>
            <a:srgbClr val="E8734A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9" name="Text 17"/>
          <p:cNvSpPr/>
          <p:nvPr/>
        </p:nvSpPr>
        <p:spPr>
          <a:xfrm>
            <a:off x="1051560" y="2999232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services and payment inquiries had the highest unresolved call volume — targeted agent coaching recommended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3639312"/>
            <a:ext cx="182880" cy="182880"/>
          </a:xfrm>
          <a:prstGeom prst="ellipse">
            <a:avLst/>
          </a:prstGeom>
          <a:solidFill>
            <a:srgbClr val="E8734A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1" name="Text 19"/>
          <p:cNvSpPr/>
          <p:nvPr/>
        </p:nvSpPr>
        <p:spPr>
          <a:xfrm>
            <a:off x="1051560" y="3566160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Weekends busier for payment and contract calls; streaming spikes on Thursdays — enabling smarter scheduling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4206240"/>
            <a:ext cx="182880" cy="182880"/>
          </a:xfrm>
          <a:prstGeom prst="ellipse">
            <a:avLst/>
          </a:prstGeom>
          <a:solidFill>
            <a:srgbClr val="E8734A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3" name="Text 21"/>
          <p:cNvSpPr/>
          <p:nvPr/>
        </p:nvSpPr>
        <p:spPr>
          <a:xfrm>
            <a:off x="1051560" y="4133088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coaching sessions recommended for all agents until satisfaction targets are consistently met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6BE6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2E4A8E">
              <a:alpha val="3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6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Churn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who is leaving, why, and how to retain them before it's too late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6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1,869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Churned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3931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6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26.5%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9184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Rate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035040" y="3931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6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$1.7M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03504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 Lost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Preview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6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 Analysis Dashboard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813816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/>
          <a:effectLst>
            <a:outerShdw blurRad="152400" dist="3810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" y="1078992"/>
            <a:ext cx="79552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6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 Analysis Dashboard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80467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75895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telecom company was losing 1,869 customers (26.5% churn rate), resulting in $1.7M in annual revenue loss, with no structured analysis of who was churning, why they were leaving, or which segments were most at risk — making proactive retention impossible.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2606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3291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Blindspot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$1.7M annual loss with no segment-level attribution to guide where to act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55848" y="2697480"/>
            <a:ext cx="2606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3355848" y="2788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465576" y="3291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Churn Profile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47288" y="36576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on who was churning — by contract, service, demographics, or tenure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63056" y="2697480"/>
            <a:ext cx="2606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5" name="Text 13"/>
          <p:cNvSpPr/>
          <p:nvPr/>
        </p:nvSpPr>
        <p:spPr>
          <a:xfrm>
            <a:off x="6163056" y="2788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272784" y="3291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Retention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36576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early warning system — the business could only react after customers had already left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6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 Analysis Dashboard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658368" y="1399032"/>
            <a:ext cx="402336" cy="402336"/>
          </a:xfrm>
          <a:prstGeom prst="ellipse">
            <a:avLst/>
          </a:prstGeom>
          <a:solidFill>
            <a:srgbClr val="2E6BE6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658368" y="1399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132588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Preparation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88720" y="16184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 and cleaned 7,000+ customer records across demographics, contracts, services, and payment behaviour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>
            <a:off x="658368" y="2313432"/>
            <a:ext cx="402336" cy="402336"/>
          </a:xfrm>
          <a:prstGeom prst="ellipse">
            <a:avLst/>
          </a:prstGeom>
          <a:solidFill>
            <a:srgbClr val="2E6BE6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658368" y="2313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24028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Measures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88720" y="25328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measures for Total Churn, Churn %, Customer Lifetime Value, Annual Revenue Lost, and Churn by Segment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658368" y="3227832"/>
            <a:ext cx="402336" cy="402336"/>
          </a:xfrm>
          <a:prstGeom prst="ellipse">
            <a:avLst/>
          </a:prstGeom>
          <a:solidFill>
            <a:srgbClr val="2E6BE6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658368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315468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Dashboard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34472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multi-dimensional visuals segmenting churn by gender, contract type, internet service, payment method, and tenure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0" name="Shape 18"/>
          <p:cNvSpPr/>
          <p:nvPr/>
        </p:nvSpPr>
        <p:spPr>
          <a:xfrm>
            <a:off x="658368" y="4142232"/>
            <a:ext cx="402336" cy="402336"/>
          </a:xfrm>
          <a:prstGeom prst="ellipse">
            <a:avLst/>
          </a:prstGeom>
          <a:solidFill>
            <a:srgbClr val="2E6BE6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1" name="Text 19"/>
          <p:cNvSpPr/>
          <p:nvPr/>
        </p:nvSpPr>
        <p:spPr>
          <a:xfrm>
            <a:off x="658368" y="4142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406908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&amp; Recommendations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88720" y="43616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highest-risk customer profiles and delivered targeted retention recommendations for each key segment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Outcome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6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 Analysis Dashboard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606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6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88.6%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churn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9933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Contracts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55848" y="1188720"/>
            <a:ext cx="2606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9" name="Text 7"/>
          <p:cNvSpPr/>
          <p:nvPr/>
        </p:nvSpPr>
        <p:spPr>
          <a:xfrm>
            <a:off x="3447288" y="12801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6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41.7%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47288" y="1783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rate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47288" y="19933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Citizens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63056" y="1188720"/>
            <a:ext cx="2606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3" name="Text 11"/>
          <p:cNvSpPr/>
          <p:nvPr/>
        </p:nvSpPr>
        <p:spPr>
          <a:xfrm>
            <a:off x="6254496" y="12801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6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69.4%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254496" y="1783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churn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54496" y="19933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 Optic Customers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514600"/>
            <a:ext cx="804672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7" name="Text 15"/>
          <p:cNvSpPr/>
          <p:nvPr/>
        </p:nvSpPr>
        <p:spPr>
          <a:xfrm>
            <a:off x="777240" y="263347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Recommendations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3072384"/>
            <a:ext cx="182880" cy="182880"/>
          </a:xfrm>
          <a:prstGeom prst="ellipse">
            <a:avLst/>
          </a:prstGeom>
          <a:solidFill>
            <a:srgbClr val="2E6BE6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9" name="Text 17"/>
          <p:cNvSpPr/>
          <p:nvPr/>
        </p:nvSpPr>
        <p:spPr>
          <a:xfrm>
            <a:off x="1051560" y="2999232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39.8% of customers churn within the first 6 months — early onboarding identified as the highest-impact retention lever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3639312"/>
            <a:ext cx="182880" cy="182880"/>
          </a:xfrm>
          <a:prstGeom prst="ellipse">
            <a:avLst/>
          </a:prstGeom>
          <a:solidFill>
            <a:srgbClr val="2E6BE6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1" name="Text 19"/>
          <p:cNvSpPr/>
          <p:nvPr/>
        </p:nvSpPr>
        <p:spPr>
          <a:xfrm>
            <a:off x="1051560" y="3566160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83.4% of churning customers never used technical support — proactive outreach recommended to improve engagement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4206240"/>
            <a:ext cx="182880" cy="182880"/>
          </a:xfrm>
          <a:prstGeom prst="ellipse">
            <a:avLst/>
          </a:prstGeom>
          <a:solidFill>
            <a:srgbClr val="2E6BE6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3" name="Text 21"/>
          <p:cNvSpPr/>
          <p:nvPr/>
        </p:nvSpPr>
        <p:spPr>
          <a:xfrm>
            <a:off x="1051560" y="4133088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outreach recommended at 3-month and 24-month milestones with exclusive cost-saving retention offers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2E4A8E">
              <a:alpha val="3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Diversity &amp;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Inclusion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Analyzing gender equity across hiring, promotions, turnover and performance to surface where progress is stalling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59% / 41%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/ Female Split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3931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9184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Turnover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035040" y="3931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03504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 FY21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Preview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 &amp; Inclusion Dashboard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813816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/>
          <a:effectLst>
            <a:outerShdw blurRad="152400" dist="3810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" y="1078992"/>
            <a:ext cx="79552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 &amp; Inclusion Dashboard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80467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75895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organization struggling with gender imbalance at the executive level had no data infrastructure to understand where diversity gaps were occurring across hiring, promotions, and turnover — or why progress toward gender balance targets was stalling despite stated organizational commitments.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2606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3291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Equity Data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 view of gender representation across job levels, departments, or regions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55848" y="2697480"/>
            <a:ext cx="2606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3355848" y="2788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465576" y="3291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Gap Unknown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47288" y="36576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analysis of whether men and women were being promoted at the same rate or point in tenure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63056" y="2697480"/>
            <a:ext cx="2606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5" name="Text 13"/>
          <p:cNvSpPr/>
          <p:nvPr/>
        </p:nvSpPr>
        <p:spPr>
          <a:xfrm>
            <a:off x="6163056" y="2788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🚪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272784" y="3291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 Blindspot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36576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 into whether women were leaving at higher rates and at which level in the organization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 &amp; Inclusion Dashboard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Shape 3"/>
          <p:cNvSpPr/>
          <p:nvPr/>
        </p:nvSpPr>
        <p:spPr>
          <a:xfrm>
            <a:off x="658368" y="1399032"/>
            <a:ext cx="402336" cy="40233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658368" y="1399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132588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Preparation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88720" y="16184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 HR data covering FY20 hiring, FY21 promotions, FY20 turnover, and performance ratings across all departments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>
            <a:off x="658368" y="2313432"/>
            <a:ext cx="402336" cy="40233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658368" y="2313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24028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Measures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88720" y="25328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KPIs: % Male/Female, % Promoted, % Turnover by Gender, Avg Performance Rating, Promotion Rate by Job Level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658368" y="3227832"/>
            <a:ext cx="402336" cy="40233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4"/>
          <p:cNvSpPr/>
          <p:nvPr/>
        </p:nvSpPr>
        <p:spPr>
          <a:xfrm>
            <a:off x="658368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315468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Multi-Dimensional Dashboard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34472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Segmented all metrics by gender, job level, department, age group, contract type, and tenure for root cause analysis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0" name="Shape 18"/>
          <p:cNvSpPr/>
          <p:nvPr/>
        </p:nvSpPr>
        <p:spPr>
          <a:xfrm>
            <a:off x="658368" y="4142232"/>
            <a:ext cx="402336" cy="40233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1" name="Text 19"/>
          <p:cNvSpPr/>
          <p:nvPr/>
        </p:nvSpPr>
        <p:spPr>
          <a:xfrm>
            <a:off x="658368" y="4142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406908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Gap Analysis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88720" y="43616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where in the talent pipeline gender gaps widened and which departments carried the highest equity risk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Outcome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 &amp; Inclusion Dashboard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606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64.7%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promotions to men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9933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FY21 Promotion Gap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55848" y="1188720"/>
            <a:ext cx="2606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9" name="Text 7"/>
          <p:cNvSpPr/>
          <p:nvPr/>
        </p:nvSpPr>
        <p:spPr>
          <a:xfrm>
            <a:off x="3447288" y="12801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47288" y="1783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turnover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47288" y="19933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Part-Time Roles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63056" y="1188720"/>
            <a:ext cx="2606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3" name="Text 11"/>
          <p:cNvSpPr/>
          <p:nvPr/>
        </p:nvSpPr>
        <p:spPr>
          <a:xfrm>
            <a:off x="6254496" y="12801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254496" y="1783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turnover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54496" y="19933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Level (Operations)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514600"/>
            <a:ext cx="804672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7" name="Text 15"/>
          <p:cNvSpPr/>
          <p:nvPr/>
        </p:nvSpPr>
        <p:spPr>
          <a:xfrm>
            <a:off x="777240" y="263347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Recommendations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3072384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9" name="Text 17"/>
          <p:cNvSpPr/>
          <p:nvPr/>
        </p:nvSpPr>
        <p:spPr>
          <a:xfrm>
            <a:off x="1051560" y="2999232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department has the highest overall turnover (11%) — understanding attrition drivers is critical to retention strategy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3639312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1" name="Text 19"/>
          <p:cNvSpPr/>
          <p:nvPr/>
        </p:nvSpPr>
        <p:spPr>
          <a:xfrm>
            <a:off x="1051560" y="3566160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employees received a performance rating of 2 — mentorship and leadership development programs recommended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4206240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3" name="Text 21"/>
          <p:cNvSpPr/>
          <p:nvPr/>
        </p:nvSpPr>
        <p:spPr>
          <a:xfrm>
            <a:off x="1051560" y="4133088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Unconscious bias training and structured career development programs recommended to address female leadership attrition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734A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2E4A8E">
              <a:alpha val="3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&amp; Skills Demonstrated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5943600" cy="658368"/>
          </a:xfrm>
          <a:prstGeom prst="roundRect">
            <a:avLst>
              <a:gd name="adj" fmla="val 11111"/>
            </a:avLst>
          </a:prstGeom>
          <a:solidFill>
            <a:srgbClr val="2E4A8E">
              <a:alpha val="5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4"/>
          <p:cNvSpPr/>
          <p:nvPr/>
        </p:nvSpPr>
        <p:spPr>
          <a:xfrm>
            <a:off x="731520" y="107899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335024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Modelling  ·  DAX Measures  ·  KPI Cards  ·  Dynamic Slicers  ·  Drill-through  ·  Interactive Filtering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5943600" cy="658368"/>
          </a:xfrm>
          <a:prstGeom prst="roundRect">
            <a:avLst>
              <a:gd name="adj" fmla="val 11111"/>
            </a:avLst>
          </a:prstGeom>
          <a:solidFill>
            <a:srgbClr val="2E4A8E">
              <a:alpha val="5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9" name="Text 7"/>
          <p:cNvSpPr/>
          <p:nvPr/>
        </p:nvSpPr>
        <p:spPr>
          <a:xfrm>
            <a:off x="731520" y="18562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112264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Segmentation  ·  Churn Analysis  ·  Workforce Analytics  ·  KPI Development  ·  Trend Analysis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5943600" cy="658368"/>
          </a:xfrm>
          <a:prstGeom prst="roundRect">
            <a:avLst>
              <a:gd name="adj" fmla="val 11111"/>
            </a:avLst>
          </a:prstGeom>
          <a:solidFill>
            <a:srgbClr val="2E4A8E">
              <a:alpha val="50000"/>
            </a:srgbClr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2" name="Text 10"/>
          <p:cNvSpPr/>
          <p:nvPr/>
        </p:nvSpPr>
        <p:spPr>
          <a:xfrm>
            <a:off x="731520" y="26334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2889504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Storytelling  ·  Executive Reporting  ·  Insight Generation  ·  Business Recommendations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37033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Shobhita Sohal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48640" y="4069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Business Intelligence Analyst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44074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shobhita.sohal@gmail.com  |  linkedin.com/in/shobhitasohal  |  shobhitasohal.carrd.co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1175</Words>
  <Application>Microsoft Office PowerPoint</Application>
  <PresentationFormat>On-screen Show (16:9)</PresentationFormat>
  <Paragraphs>205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PwC Power BI Internship Program</dc:title>
  <dc:subject>PptxGenJS Presentation</dc:subject>
  <dc:creator>Shobhita Sohal</dc:creator>
  <cp:lastModifiedBy>Shobhita Sohal</cp:lastModifiedBy>
  <cp:revision>2</cp:revision>
  <dcterms:created xsi:type="dcterms:W3CDTF">2026-07-04T20:25:08Z</dcterms:created>
  <dcterms:modified xsi:type="dcterms:W3CDTF">2026-07-05T16:49:47Z</dcterms:modified>
</cp:coreProperties>
</file>